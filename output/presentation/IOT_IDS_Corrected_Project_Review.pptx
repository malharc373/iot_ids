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b2d781a23d492c" /><Relationship Type="http://schemas.openxmlformats.org/officeDocument/2006/relationships/extended-properties" Target="/docProps/app.xml" Id="R6d34182489bd4971" /><Relationship Type="http://schemas.openxmlformats.org/officeDocument/2006/relationships/officeDocument" Target="/ppt/presentation.xml" Id="R45d224dea2804f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60b17c7b7743ca"/>
  </p:sldMasterIdLst>
  <p:notesMasterIdLst>
    <p:notesMasterId xmlns:r="http://schemas.openxmlformats.org/officeDocument/2006/relationships" r:id="Rdbbf8d91ec9a47ca"/>
  </p:notesMasterIdLst>
  <p:sldIdLst>
    <p:sldId xmlns:r="http://schemas.openxmlformats.org/officeDocument/2006/relationships" id="256" r:id="R3450e42754f243b9"/>
    <p:sldId xmlns:r="http://schemas.openxmlformats.org/officeDocument/2006/relationships" id="257" r:id="R7ec90ce495154fcc"/>
    <p:sldId xmlns:r="http://schemas.openxmlformats.org/officeDocument/2006/relationships" id="258" r:id="Rfc841a7e87de4974"/>
    <p:sldId xmlns:r="http://schemas.openxmlformats.org/officeDocument/2006/relationships" id="259" r:id="R22a980bc7cfd43d7"/>
    <p:sldId xmlns:r="http://schemas.openxmlformats.org/officeDocument/2006/relationships" id="260" r:id="R757a731303974b37"/>
    <p:sldId xmlns:r="http://schemas.openxmlformats.org/officeDocument/2006/relationships" id="261" r:id="R62910c2993b94211"/>
    <p:sldId xmlns:r="http://schemas.openxmlformats.org/officeDocument/2006/relationships" id="262" r:id="R7f87fe0b024b49b4"/>
    <p:sldId xmlns:r="http://schemas.openxmlformats.org/officeDocument/2006/relationships" id="263" r:id="R7b65456c497b4749"/>
    <p:sldId xmlns:r="http://schemas.openxmlformats.org/officeDocument/2006/relationships" id="264" r:id="Ra09ba928123044ec"/>
    <p:sldId xmlns:r="http://schemas.openxmlformats.org/officeDocument/2006/relationships" id="265" r:id="Rc0619fed57344e51"/>
    <p:sldId xmlns:r="http://schemas.openxmlformats.org/officeDocument/2006/relationships" id="266" r:id="R36374068ec68467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a7f513bd7643b9" /><Relationship Type="http://schemas.openxmlformats.org/officeDocument/2006/relationships/slideMaster" Target="/ppt/slideMasters/slideMaster1.xml" Id="Rc260b17c7b7743ca" /><Relationship Type="http://schemas.openxmlformats.org/officeDocument/2006/relationships/notesMaster" Target="/ppt/notesMasters/notesMaster1.xml" Id="Rdbbf8d91ec9a47ca" /><Relationship Type="http://schemas.openxmlformats.org/officeDocument/2006/relationships/presProps" Target="/ppt/presProps.xml" Id="Rb871be7e0fa04c6a" /><Relationship Type="http://schemas.openxmlformats.org/officeDocument/2006/relationships/tableStyles" Target="/ppt/tableStyles.xml" Id="Re2858d1fe9b44a5e" /><Relationship Type="http://schemas.openxmlformats.org/officeDocument/2006/relationships/slide" Target="/ppt/slides/slide1.xml" Id="R3450e42754f243b9" /><Relationship Type="http://schemas.openxmlformats.org/officeDocument/2006/relationships/slide" Target="/ppt/slides/slide2.xml" Id="R7ec90ce495154fcc" /><Relationship Type="http://schemas.openxmlformats.org/officeDocument/2006/relationships/slide" Target="/ppt/slides/slide3.xml" Id="Rfc841a7e87de4974" /><Relationship Type="http://schemas.openxmlformats.org/officeDocument/2006/relationships/slide" Target="/ppt/slides/slide4.xml" Id="R22a980bc7cfd43d7" /><Relationship Type="http://schemas.openxmlformats.org/officeDocument/2006/relationships/slide" Target="/ppt/slides/slide5.xml" Id="R757a731303974b37" /><Relationship Type="http://schemas.openxmlformats.org/officeDocument/2006/relationships/slide" Target="/ppt/slides/slide6.xml" Id="R62910c2993b94211" /><Relationship Type="http://schemas.openxmlformats.org/officeDocument/2006/relationships/slide" Target="/ppt/slides/slide7.xml" Id="R7f87fe0b024b49b4" /><Relationship Type="http://schemas.openxmlformats.org/officeDocument/2006/relationships/slide" Target="/ppt/slides/slide8.xml" Id="R7b65456c497b4749" /><Relationship Type="http://schemas.openxmlformats.org/officeDocument/2006/relationships/slide" Target="/ppt/slides/slide9.xml" Id="Ra09ba928123044ec" /><Relationship Type="http://schemas.openxmlformats.org/officeDocument/2006/relationships/slide" Target="/ppt/slides/slide10.xml" Id="Rc0619fed57344e51" /><Relationship Type="http://schemas.openxmlformats.org/officeDocument/2006/relationships/slide" Target="/ppt/slides/slide11.xml" Id="R36374068ec68467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bb4c923e3e44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a0a39ef4694ae7" /><Relationship Type="http://schemas.openxmlformats.org/officeDocument/2006/relationships/notesMaster" Target="/ppt/notesMasters/notesMaster1.xml" Id="R33cbecbe78844e0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f26ab5742b4572" /><Relationship Type="http://schemas.openxmlformats.org/officeDocument/2006/relationships/notesMaster" Target="/ppt/notesMasters/notesMaster1.xml" Id="Rd941195d715a45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e22eae8e124024" /><Relationship Type="http://schemas.openxmlformats.org/officeDocument/2006/relationships/notesMaster" Target="/ppt/notesMasters/notesMaster1.xml" Id="R9f7c93b4a61c427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ad0b73b341488f" /><Relationship Type="http://schemas.openxmlformats.org/officeDocument/2006/relationships/notesMaster" Target="/ppt/notesMasters/notesMaster1.xml" Id="R87c2df0ad5cd4c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2f1559afa147a3" /><Relationship Type="http://schemas.openxmlformats.org/officeDocument/2006/relationships/notesMaster" Target="/ppt/notesMasters/notesMaster1.xml" Id="Rb72d0e8a493d46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7184e4cfd442c4" /><Relationship Type="http://schemas.openxmlformats.org/officeDocument/2006/relationships/notesMaster" Target="/ppt/notesMasters/notesMaster1.xml" Id="R04d837938cd148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955f0013034b37" /><Relationship Type="http://schemas.openxmlformats.org/officeDocument/2006/relationships/notesMaster" Target="/ppt/notesMasters/notesMaster1.xml" Id="R1c981520adf54d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13cd27dad74ece" /><Relationship Type="http://schemas.openxmlformats.org/officeDocument/2006/relationships/notesMaster" Target="/ppt/notesMasters/notesMaster1.xml" Id="Rc71b553b4d5547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fc262e2ede4818" /><Relationship Type="http://schemas.openxmlformats.org/officeDocument/2006/relationships/notesMaster" Target="/ppt/notesMasters/notesMaster1.xml" Id="Rb9a3611c21cd4f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7f5081226a0448c" /><Relationship Type="http://schemas.openxmlformats.org/officeDocument/2006/relationships/notesMaster" Target="/ppt/notesMasters/notesMaster1.xml" Id="R5f11eabaac464f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72b512141e4529" /><Relationship Type="http://schemas.openxmlformats.org/officeDocument/2006/relationships/notesMaster" Target="/ppt/notesMasters/notesMaster1.xml" Id="Rf7727d6f07ee47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reports/PROJECT_REPORT.md</a:t>
            </a:r>
          </a:p>
          <a:p xmlns:a="http://schemas.openxmlformats.org/drawingml/2006/main">
            <a:r>
              <a:t>- vault/Remediation 2026-08-22.md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legacy/resubstitution-results/README.md</a:t>
            </a:r>
          </a:p>
          <a:p xmlns:a="http://schemas.openxmlformats.org/drawingml/2006/main">
            <a:r>
              <a:t>- demo/results/CROSS_DATASET_FINDINGS.md</a:t>
            </a:r>
          </a:p>
          <a:p xmlns:a="http://schemas.openxmlformats.org/drawingml/2006/main">
            <a:r>
              <a:t>- vault/Remediation 2026-08-22.md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models/README.md</a:t>
            </a:r>
          </a:p>
          <a:p xmlns:a="http://schemas.openxmlformats.org/drawingml/2006/main">
            <a:r>
              <a:t>- models/live_meta.json</a:t>
            </a:r>
          </a:p>
          <a:p xmlns:a="http://schemas.openxmlformats.org/drawingml/2006/main">
            <a:r>
              <a:t>- vault/Reference/Architecture.md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src/flow_features.py</a:t>
            </a:r>
          </a:p>
          <a:p xmlns:a="http://schemas.openxmlformats.org/drawingml/2006/main">
            <a:r>
              <a:t>- src/ids_daemon.py</a:t>
            </a:r>
          </a:p>
          <a:p xmlns:a="http://schemas.openxmlformats.org/drawingml/2006/main">
            <a:r>
              <a:t>- vault/Reference/Architecture.md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src/flow_features.py</a:t>
            </a:r>
          </a:p>
          <a:p xmlns:a="http://schemas.openxmlformats.org/drawingml/2006/main">
            <a:r>
              <a:t>- src/ids_daemon.py</a:t>
            </a:r>
          </a:p>
          <a:p xmlns:a="http://schemas.openxmlformats.org/drawingml/2006/main">
            <a:r>
              <a:t>- tests/smoke_test.py</a:t>
            </a:r>
          </a:p>
          <a:p xmlns:a="http://schemas.openxmlformats.org/drawingml/2006/main">
            <a:r>
              <a:t>- models/live_meta.json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models/live_meta.json</a:t>
            </a:r>
          </a:p>
          <a:p xmlns:a="http://schemas.openxmlformats.org/drawingml/2006/main">
            <a:r>
              <a:t>- demo/results/BENCHMARK.md</a:t>
            </a:r>
          </a:p>
          <a:p xmlns:a="http://schemas.openxmlformats.org/drawingml/2006/main">
            <a:r>
              <a:t>- vault/Remediation 2026-08-22.md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code/cross_dataset_eval.py</a:t>
            </a:r>
          </a:p>
          <a:p xmlns:a="http://schemas.openxmlformats.org/drawingml/2006/main">
            <a:r>
              <a:t>- code/multidataset.py</a:t>
            </a:r>
          </a:p>
          <a:p xmlns:a="http://schemas.openxmlformats.org/drawingml/2006/main">
            <a:r>
              <a:t>- code/threshold_transfer.py</a:t>
            </a:r>
          </a:p>
          <a:p xmlns:a="http://schemas.openxmlformats.org/drawingml/2006/main">
            <a:r>
              <a:t>- vault/Remediation 2026-08-22.md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src/ips_response.py</a:t>
            </a:r>
          </a:p>
          <a:p xmlns:a="http://schemas.openxmlformats.org/drawingml/2006/main">
            <a:r>
              <a:t>- src/ids_daemon.py</a:t>
            </a:r>
          </a:p>
          <a:p xmlns:a="http://schemas.openxmlformats.org/drawingml/2006/main">
            <a:r>
              <a:t>- src/dashboard.py</a:t>
            </a:r>
          </a:p>
          <a:p xmlns:a="http://schemas.openxmlformats.org/drawingml/2006/main">
            <a:r>
              <a:t>- tests/smoke_test.py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demo/results/BENCHMARK.md</a:t>
            </a:r>
          </a:p>
          <a:p xmlns:a="http://schemas.openxmlformats.org/drawingml/2006/main">
            <a:r>
              <a:t>- deploy/README_PI.md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vault/Remediation 2026-08-22.md</a:t>
            </a:r>
          </a:p>
          <a:p xmlns:a="http://schemas.openxmlformats.org/drawingml/2006/main">
            <a:r>
              <a:t>- reports/PROJECT_REPORT.md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reports/PROJECT_REPORT.md</a:t>
            </a:r>
          </a:p>
          <a:p xmlns:a="http://schemas.openxmlformats.org/drawingml/2006/main">
            <a:r>
              <a:t>- vault/Remediation 2026-08-22.md</a:t>
            </a:r>
          </a:p>
          <a:p xmlns:a="http://schemas.openxmlformats.org/drawingml/2006/main">
            <a:r>
              <a:t>- vault/Reference/Future 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c1690c8e4942e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92580acea042d3" /><Relationship Type="http://schemas.openxmlformats.org/officeDocument/2006/relationships/slideLayout" Target="/ppt/slideLayouts/slideLayout1.xml" Id="R879dee41f9914f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9dee41f9914f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0c3ddfa34640ad" /><Relationship Type="http://schemas.openxmlformats.org/officeDocument/2006/relationships/notesSlide" Target="/ppt/notesSlides/notesSlide1.xml" Id="R2950ea6fc83f4c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74edafce34d94" /><Relationship Type="http://schemas.openxmlformats.org/officeDocument/2006/relationships/notesSlide" Target="/ppt/notesSlides/notesSlide2.xml" Id="R129e806e55a747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cca9219104587" /><Relationship Type="http://schemas.openxmlformats.org/officeDocument/2006/relationships/notesSlide" Target="/ppt/notesSlides/notesSlide3.xml" Id="Rdf3f8d794e6b41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6e3e739b94d1e" /><Relationship Type="http://schemas.openxmlformats.org/officeDocument/2006/relationships/notesSlide" Target="/ppt/notesSlides/notesSlide4.xml" Id="R72934c95a7ce4e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fce263a7d401a" /><Relationship Type="http://schemas.openxmlformats.org/officeDocument/2006/relationships/notesSlide" Target="/ppt/notesSlides/notesSlide5.xml" Id="R42041bd65e1745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13e23102ed4587" /><Relationship Type="http://schemas.openxmlformats.org/officeDocument/2006/relationships/notesSlide" Target="/ppt/notesSlides/notesSlide6.xml" Id="Rd37f3ce86a0c49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1eb4b66454697" /><Relationship Type="http://schemas.openxmlformats.org/officeDocument/2006/relationships/notesSlide" Target="/ppt/notesSlides/notesSlide7.xml" Id="R6faa2fc5d7da4a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aac1ff4c64afb" /><Relationship Type="http://schemas.openxmlformats.org/officeDocument/2006/relationships/notesSlide" Target="/ppt/notesSlides/notesSlide8.xml" Id="R573908cb80354a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cc7bc2c8e47c9" /><Relationship Type="http://schemas.openxmlformats.org/officeDocument/2006/relationships/chart" Target="/ppt/slides/charts/chart1.xml" Id="R814c3801df794ce0" /><Relationship Type="http://schemas.openxmlformats.org/officeDocument/2006/relationships/notesSlide" Target="/ppt/notesSlides/notesSlide9.xml" Id="R60e20f19849441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f1ee712574c0d" /><Relationship Type="http://schemas.openxmlformats.org/officeDocument/2006/relationships/notesSlide" Target="/ppt/notesSlides/notesSlide10.xml" Id="R609c6e1972bf4cf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728d292fc485d" /><Relationship Type="http://schemas.openxmlformats.org/officeDocument/2006/relationships/notesSlide" Target="/ppt/notesSlides/notesSlide11.xml" Id="Ra9175db5c25d4f2e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flows per second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5"/>
              <c:pt idx="0">
                <c:v>End-to-end</c:v>
              </c:pt>
              <c:pt idx="1">
                <c:v>Feature extraction</c:v>
              </c:pt>
              <c:pt idx="2">
                <c:v>ONNX batch 1</c:v>
              </c:pt>
              <c:pt idx="3">
                <c:v>ONNX batch 1024</c:v>
              </c:pt>
              <c:pt idx="4">
                <c:v>Native C</c:v>
              </c:pt>
            </c:strLit>
          </c:cat>
          <c:val>
            <c:numLit>
              <c:formatCode>General</c:formatCode>
              <c:ptCount val="5"/>
              <c:pt idx="0">
                <c:v>51321</c:v>
              </c:pt>
              <c:pt idx="1">
                <c:v>54586</c:v>
              </c:pt>
              <c:pt idx="2">
                <c:v>90247</c:v>
              </c:pt>
              <c:pt idx="3">
                <c:v>399270</c:v>
              </c:pt>
              <c:pt idx="4">
                <c:v>899964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10182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numFmt formatCode="General"/>
        <c:majorTickMark val="none"/>
        <c:minorTickMark val="none"/>
        <c:tickLblPos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01820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780E59FA-3E8F-4802-AEED-616A44D5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COEP TECHNOLOGICAL UNIVERSITY / PROJECT STATUS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6A15ACA-1AE2-40F8-B25D-FAB4E463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9334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IoT-Based Intrusion</a:t>
            </a:r>
          </a:p>
          <a:p xmlns:a="http://schemas.openxmlformats.org/drawingml/2006/main">
            <a:pPr algn="l">
              <a:defRPr sz="5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Detection System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70959EE3-5B24-4CC5-920F-03D8F06F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Corrected technical review: what works, what was withdrawn, and what evidence comes next</a:t>
            </a:r>
          </a:p>
        </p:txBody>
      </p:sp>
      <p:sp>
        <p:nvSpPr>
          <p:cNvPr id="4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66C92BE3-3A9E-4B17-90E4-AF361390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28384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B85C00"/>
            </a:solidFill>
            <a:prstDash val="solid"/>
          </a:ln>
        </p:spPr>
      </p:sp>
      <p:sp>
        <p:nvSpPr>
          <p:cNvPr id="5" name="cover-status-text">
            <a:extLst xmlns:a="http://schemas.openxmlformats.org/drawingml/2006/main">
              <a:ext uri="{FF2B5EF4-FFF2-40B4-BE49-F238E27FC236}">
                <a16:creationId xmlns:a16="http://schemas.microsoft.com/office/drawing/2014/main" id="{8504010F-A1F5-4303-8334-B38DCED1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005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86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rPr>
              <a:t>RESEARCH RERUN PENDING</a:t>
            </a:r>
          </a:p>
        </p:txBody>
      </p:sp>
      <p:sp>
        <p:nvSpPr>
          <p:cNvPr id="6" name="cover-team">
            <a:extLst xmlns:a="http://schemas.openxmlformats.org/drawingml/2006/main">
              <a:ext uri="{FF2B5EF4-FFF2-40B4-BE49-F238E27FC236}">
                <a16:creationId xmlns:a16="http://schemas.microsoft.com/office/drawing/2014/main" id="{148EA239-54C0-435A-9E1E-214B3640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388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Mahi Patel / Malhar Falke / Yugandhar Pise / Vaibhav Tayade</a:t>
            </a:r>
          </a:p>
          <a:p xmlns:a="http://schemas.openxmlformats.org/drawingml/2006/main">
            <a:pPr algn="l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Guide: Prof. S K Gaikwad</a:t>
            </a:r>
          </a:p>
        </p:txBody>
      </p:sp>
    </p:spTree>
    <p:extLst>
      <p:ext uri="{BB962C8B-B14F-4D97-AF65-F5344CB8AC3E}">
        <p14:creationId xmlns:p14="http://schemas.microsoft.com/office/powerpoint/2010/main" val="9016719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3795B85-DBBB-4F5E-B057-CEFF4F73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Engineering survived the evidence correction</a:t>
            </a:r>
          </a:p>
        </p:txBody>
      </p:sp>
      <p:cxnSp>
        <p:nvCxnSpPr>
          <p:cNvPr id="12" name="slide-2-rule"/>
          <p:cNvCxnSpPr/>
          <p:nvPr/>
        </p:nvCxn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withdrawn-panel">
            <a:extLst xmlns:a="http://schemas.openxmlformats.org/drawingml/2006/main">
              <a:ext uri="{FF2B5EF4-FFF2-40B4-BE49-F238E27FC236}">
                <a16:creationId xmlns:a16="http://schemas.microsoft.com/office/drawing/2014/main" id="{EAF6808C-818E-4AA6-AF52-921967E9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53149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B85C00"/>
            </a:solidFill>
            <a:prstDash val="solid"/>
          </a:ln>
        </p:spPr>
      </p:sp>
      <p:sp>
        <p:nvSpPr>
          <p:cNvPr id="4" name="withdrawn-head">
            <a:extLst xmlns:a="http://schemas.openxmlformats.org/drawingml/2006/main">
              <a:ext uri="{FF2B5EF4-FFF2-40B4-BE49-F238E27FC236}">
                <a16:creationId xmlns:a16="http://schemas.microsoft.com/office/drawing/2014/main" id="{B9CB6302-7B28-4080-88AF-950219CA9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rPr>
              <a:t>Withdrawn</a:t>
            </a:r>
          </a:p>
        </p:txBody>
      </p:sp>
      <p:sp>
        <p:nvSpPr>
          <p:cNvPr id="5" name="withdrawn-copy">
            <a:extLst xmlns:a="http://schemas.openxmlformats.org/drawingml/2006/main">
              <a:ext uri="{FF2B5EF4-FFF2-40B4-BE49-F238E27FC236}">
                <a16:creationId xmlns:a16="http://schemas.microsoft.com/office/drawing/2014/main" id="{A70170BD-3D6A-48D3-A31E-13C366D7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4476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Exact SFAF in-domain AUC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Exact generalisation-gap magnitude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Transform ranking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"Ten labels recover 89%"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Pi real-time claim</a:t>
            </a:r>
          </a:p>
        </p:txBody>
      </p:sp>
      <p:sp>
        <p:nvSpPr>
          <p:cNvPr id="6" name="current-panel">
            <a:extLst xmlns:a="http://schemas.openxmlformats.org/drawingml/2006/main">
              <a:ext uri="{FF2B5EF4-FFF2-40B4-BE49-F238E27FC236}">
                <a16:creationId xmlns:a16="http://schemas.microsoft.com/office/drawing/2014/main" id="{FF5D66EF-C1F2-41DE-A39A-80C86E3A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314950" cy="405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C"/>
          </a:solidFill>
          <a:ln xmlns:a="http://schemas.openxmlformats.org/drawingml/2006/main" w="9525">
            <a:solidFill>
              <a:srgbClr val="237A57"/>
            </a:solidFill>
            <a:prstDash val="solid"/>
          </a:ln>
        </p:spPr>
      </p:sp>
      <p:sp>
        <p:nvSpPr>
          <p:cNvPr id="7" name="current-head">
            <a:extLst xmlns:a="http://schemas.openxmlformats.org/drawingml/2006/main">
              <a:ext uri="{FF2B5EF4-FFF2-40B4-BE49-F238E27FC236}">
                <a16:creationId xmlns:a16="http://schemas.microsoft.com/office/drawing/2014/main" id="{173AAC65-3DFB-4D87-9C29-CBE9BBE9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8595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Current and verified</a:t>
            </a:r>
          </a:p>
        </p:txBody>
      </p:sp>
      <p:sp>
        <p:nvSpPr>
          <p:cNvPr id="8" name="current-copy">
            <a:extLst xmlns:a="http://schemas.openxmlformats.org/drawingml/2006/main">
              <a:ext uri="{FF2B5EF4-FFF2-40B4-BE49-F238E27FC236}">
                <a16:creationId xmlns:a16="http://schemas.microsoft.com/office/drawing/2014/main" id="{DCEC317D-F8DF-4B2B-8F3E-9676EDE3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57450"/>
            <a:ext cx="447675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Corrected 80/20 research protocol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Versioned 22-feature live 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Safe packet parsing and bounded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Authenticated dashboard and IPS refresh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58-test hermetic suite</a:t>
            </a:r>
          </a:p>
        </p:txBody>
      </p:sp>
      <p:sp>
        <p:nvSpPr>
          <p:cNvPr id="9" name="slide2-takeaway">
            <a:extLst xmlns:a="http://schemas.openxmlformats.org/drawingml/2006/main">
              <a:ext uri="{FF2B5EF4-FFF2-40B4-BE49-F238E27FC236}">
                <a16:creationId xmlns:a16="http://schemas.microsoft.com/office/drawing/2014/main" id="{34754D6E-F516-4BEB-BFDC-06F11B2EE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The project is now reviewable because claims carry an evidence scope.</a:t>
            </a:r>
          </a:p>
        </p:txBody>
      </p:sp>
      <p:sp>
        <p:nvSpPr>
          <p:cNvPr id="10" name="slide-2-footer">
            <a:extLst xmlns:a="http://schemas.openxmlformats.org/drawingml/2006/main">
              <a:ext uri="{FF2B5EF4-FFF2-40B4-BE49-F238E27FC236}">
                <a16:creationId xmlns:a16="http://schemas.microsoft.com/office/drawing/2014/main" id="{5A345630-195F-4A09-905F-1E0CDA6BE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IOT-IDS / corrected status / 22 Aug 2026                                      2</a:t>
            </a:r>
          </a:p>
        </p:txBody>
      </p:sp>
    </p:spTree>
    <p:extLst>
      <p:ext uri="{BB962C8B-B14F-4D97-AF65-F5344CB8AC3E}">
        <p14:creationId xmlns:p14="http://schemas.microsoft.com/office/powerpoint/2010/main" val="18143804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4FE27BDB-4448-4DFD-BCF1-DCAB8970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Research and runtime are explicitly separated</a:t>
            </a:r>
          </a:p>
        </p:txBody>
      </p:sp>
      <p:cxnSp>
        <p:nvCxnSpPr>
          <p:cNvPr id="12" name="slide-3-rule"/>
          <p:cNvCxnSpPr/>
          <p:nvPr/>
        </p:nvCxn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research-half">
            <a:extLst xmlns:a="http://schemas.openxmlformats.org/drawingml/2006/main">
              <a:ext uri="{FF2B5EF4-FFF2-40B4-BE49-F238E27FC236}">
                <a16:creationId xmlns:a16="http://schemas.microsoft.com/office/drawing/2014/main" id="{7A769DB4-2BE4-441F-A12E-7AD2DEA5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19250"/>
            <a:ext cx="5048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live-half">
            <a:extLst xmlns:a="http://schemas.openxmlformats.org/drawingml/2006/main">
              <a:ext uri="{FF2B5EF4-FFF2-40B4-BE49-F238E27FC236}">
                <a16:creationId xmlns:a16="http://schemas.microsoft.com/office/drawing/2014/main" id="{2CB9DC78-2D5C-49DA-88C6-EA887737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19250"/>
            <a:ext cx="5048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5" name="research-title">
            <a:extLst xmlns:a="http://schemas.openxmlformats.org/drawingml/2006/main">
              <a:ext uri="{FF2B5EF4-FFF2-40B4-BE49-F238E27FC236}">
                <a16:creationId xmlns:a16="http://schemas.microsoft.com/office/drawing/2014/main" id="{51D55C71-27CE-429D-A634-8C7555FCD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431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12-feature research study</a:t>
            </a:r>
          </a:p>
        </p:txBody>
      </p:sp>
      <p:sp>
        <p:nvSpPr>
          <p:cNvPr id="6" name="research-body">
            <a:extLst xmlns:a="http://schemas.openxmlformats.org/drawingml/2006/main">
              <a:ext uri="{FF2B5EF4-FFF2-40B4-BE49-F238E27FC236}">
                <a16:creationId xmlns:a16="http://schemas.microsoft.com/office/drawing/2014/main" id="{D523CB1A-2C6A-4700-AA1A-9C486CE2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Binary classification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Public tabular datasets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Cross-dataset transfer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Protocol-correct rerun pending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Runtime compatible: false</a:t>
            </a:r>
          </a:p>
        </p:txBody>
      </p:sp>
      <p:sp>
        <p:nvSpPr>
          <p:cNvPr id="7" name="live-title">
            <a:extLst xmlns:a="http://schemas.openxmlformats.org/drawingml/2006/main">
              <a:ext uri="{FF2B5EF4-FFF2-40B4-BE49-F238E27FC236}">
                <a16:creationId xmlns:a16="http://schemas.microsoft.com/office/drawing/2014/main" id="{F9F21BE3-B62A-420E-BBA9-576DBF6D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43100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22-feature live IDS/IPS</a:t>
            </a:r>
          </a:p>
        </p:txBody>
      </p:sp>
      <p:sp>
        <p:nvSpPr>
          <p:cNvPr id="8" name="live-body">
            <a:extLst xmlns:a="http://schemas.openxmlformats.org/drawingml/2006/main">
              <a:ext uri="{FF2B5EF4-FFF2-40B4-BE49-F238E27FC236}">
                <a16:creationId xmlns:a16="http://schemas.microsoft.com/office/drawing/2014/main" id="{BE20AEA0-D541-4E45-9523-A8A6A14A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86050"/>
            <a:ext cx="4095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Ten traffic classes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Packet-derived flows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ONNX and C deployment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Synthetic evidence only</a:t>
            </a:r>
          </a:p>
          <a:p xmlns:a="http://schemas.openxmlformats.org/drawingml/2006/main">
            <a:pPr algn="l">
              <a:def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Runtime compatible: true</a:t>
            </a:r>
          </a:p>
        </p:txBody>
      </p:sp>
      <p:sp>
        <p:nvSpPr>
          <p:cNvPr id="9" name="boundary">
            <a:extLst xmlns:a="http://schemas.openxmlformats.org/drawingml/2006/main">
              <a:ext uri="{FF2B5EF4-FFF2-40B4-BE49-F238E27FC236}">
                <a16:creationId xmlns:a16="http://schemas.microsoft.com/office/drawing/2014/main" id="{4660A24C-1604-4095-85A3-D64858C9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857500"/>
            <a:ext cx="1143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53A2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A53A2A"/>
                </a:solidFill>
                <a:latin typeface="Helvetica Neue"/>
                <a:ea typeface="Helvetica Neue"/>
                <a:cs typeface="Helvetica Neue"/>
              </a:rPr>
              <a:t>NO SILENT MODEL SWAP</a:t>
            </a:r>
          </a:p>
        </p:txBody>
      </p:sp>
      <p:sp>
        <p:nvSpPr>
          <p:cNvPr id="10" name="slide-3-footer">
            <a:extLst xmlns:a="http://schemas.openxmlformats.org/drawingml/2006/main">
              <a:ext uri="{FF2B5EF4-FFF2-40B4-BE49-F238E27FC236}">
                <a16:creationId xmlns:a16="http://schemas.microsoft.com/office/drawing/2014/main" id="{56FFF8F3-363B-496A-AFCC-FFDA76EC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IOT-IDS / corrected status / 22 Aug 2026                                      3</a:t>
            </a:r>
          </a:p>
        </p:txBody>
      </p:sp>
    </p:spTree>
    <p:extLst>
      <p:ext uri="{BB962C8B-B14F-4D97-AF65-F5344CB8AC3E}">
        <p14:creationId xmlns:p14="http://schemas.microsoft.com/office/powerpoint/2010/main" val="20491420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69893BB5-214F-4D6A-B463-3F1959FC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All capture modes share one detection core</a:t>
            </a:r>
          </a:p>
        </p:txBody>
      </p:sp>
      <p:cxnSp>
        <p:nvCxnSpPr>
          <p:cNvPr id="25" name="slide-4-rule"/>
          <p:cNvCxnSpPr/>
          <p:nvPr/>
        </p:nvCxn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6" name="pipe-line-0"/>
          <p:cNvCxnSpPr/>
          <p:nvPr/>
        </p:nvCxnSpPr>
        <p:spPr>
          <a:xfrm xmlns:a="http://schemas.openxmlformats.org/drawingml/2006/main">
            <a:off x="2286000" y="3067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B87"/>
            </a:solidFill>
            <a:prstDash val="solid"/>
          </a:ln>
        </p:spPr>
      </p:cxnSp>
      <p:cxnSp>
        <p:nvCxnSpPr>
          <p:cNvPr id="27" name="pipe-line-1"/>
          <p:cNvCxnSpPr/>
          <p:nvPr/>
        </p:nvCxnSpPr>
        <p:spPr>
          <a:xfrm xmlns:a="http://schemas.openxmlformats.org/drawingml/2006/main">
            <a:off x="4438650" y="3067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B87"/>
            </a:solidFill>
            <a:prstDash val="solid"/>
          </a:ln>
        </p:spPr>
      </p:cxnSp>
      <p:cxnSp>
        <p:nvCxnSpPr>
          <p:cNvPr id="28" name="pipe-line-2"/>
          <p:cNvCxnSpPr/>
          <p:nvPr/>
        </p:nvCxnSpPr>
        <p:spPr>
          <a:xfrm xmlns:a="http://schemas.openxmlformats.org/drawingml/2006/main">
            <a:off x="6591300" y="3067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B87"/>
            </a:solidFill>
            <a:prstDash val="solid"/>
          </a:ln>
        </p:spPr>
      </p:cxnSp>
      <p:cxnSp>
        <p:nvCxnSpPr>
          <p:cNvPr id="29" name="pipe-line-3"/>
          <p:cNvCxnSpPr/>
          <p:nvPr/>
        </p:nvCxnSpPr>
        <p:spPr>
          <a:xfrm xmlns:a="http://schemas.openxmlformats.org/drawingml/2006/main">
            <a:off x="8743950" y="306705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76B87"/>
            </a:solidFill>
            <a:prstDash val="solid"/>
          </a:ln>
        </p:spPr>
      </p:cxnSp>
      <p:sp>
        <p:nvSpPr>
          <p:cNvPr id="7" name="pipe-node-0">
            <a:extLst xmlns:a="http://schemas.openxmlformats.org/drawingml/2006/main">
              <a:ext uri="{FF2B5EF4-FFF2-40B4-BE49-F238E27FC236}">
                <a16:creationId xmlns:a16="http://schemas.microsoft.com/office/drawing/2014/main" id="{9FB9963A-0161-49C3-B720-3E227969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95500"/>
            <a:ext cx="17907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ipe-head-0">
            <a:extLst xmlns:a="http://schemas.openxmlformats.org/drawingml/2006/main">
              <a:ext uri="{FF2B5EF4-FFF2-40B4-BE49-F238E27FC236}">
                <a16:creationId xmlns:a16="http://schemas.microsoft.com/office/drawing/2014/main" id="{F04766A9-150A-43FF-A55A-E0A02C43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CAPTURE</a:t>
            </a:r>
          </a:p>
        </p:txBody>
      </p:sp>
      <p:sp>
        <p:nvSpPr>
          <p:cNvPr id="9" name="pipe-body-0">
            <a:extLst xmlns:a="http://schemas.openxmlformats.org/drawingml/2006/main">
              <a:ext uri="{FF2B5EF4-FFF2-40B4-BE49-F238E27FC236}">
                <a16:creationId xmlns:a16="http://schemas.microsoft.com/office/drawing/2014/main" id="{C1D7BEB2-BF41-4993-AFC7-41DE731C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447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pcap</a:t>
            </a:r>
          </a:p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replay</a:t>
            </a:r>
          </a:p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live iface</a:t>
            </a:r>
          </a:p>
        </p:txBody>
      </p:sp>
      <p:sp>
        <p:nvSpPr>
          <p:cNvPr id="10" name="pipe-node-1">
            <a:extLst xmlns:a="http://schemas.openxmlformats.org/drawingml/2006/main">
              <a:ext uri="{FF2B5EF4-FFF2-40B4-BE49-F238E27FC236}">
                <a16:creationId xmlns:a16="http://schemas.microsoft.com/office/drawing/2014/main" id="{CE927468-09F4-4B36-97F0-69AC16C4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095500"/>
            <a:ext cx="17907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pipe-head-1">
            <a:extLst xmlns:a="http://schemas.openxmlformats.org/drawingml/2006/main">
              <a:ext uri="{FF2B5EF4-FFF2-40B4-BE49-F238E27FC236}">
                <a16:creationId xmlns:a16="http://schemas.microsoft.com/office/drawing/2014/main" id="{555C8179-0AFA-42B1-A115-C5302148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241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PARSE</a:t>
            </a:r>
          </a:p>
        </p:txBody>
      </p:sp>
      <p:sp>
        <p:nvSpPr>
          <p:cNvPr id="12" name="pipe-body-1">
            <a:extLst xmlns:a="http://schemas.openxmlformats.org/drawingml/2006/main">
              <a:ext uri="{FF2B5EF4-FFF2-40B4-BE49-F238E27FC236}">
                <a16:creationId xmlns:a16="http://schemas.microsoft.com/office/drawing/2014/main" id="{FD2FC8B9-157C-4B22-A0D7-CADA06AC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38450"/>
            <a:ext cx="1447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Ethernet + VLAN</a:t>
            </a:r>
          </a:p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IPv4 + IPv6</a:t>
            </a:r>
          </a:p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fragment-safe</a:t>
            </a:r>
          </a:p>
        </p:txBody>
      </p:sp>
      <p:sp>
        <p:nvSpPr>
          <p:cNvPr id="13" name="pipe-node-2">
            <a:extLst xmlns:a="http://schemas.openxmlformats.org/drawingml/2006/main">
              <a:ext uri="{FF2B5EF4-FFF2-40B4-BE49-F238E27FC236}">
                <a16:creationId xmlns:a16="http://schemas.microsoft.com/office/drawing/2014/main" id="{A1DBAFDF-0CED-47E9-A497-F7DE837B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95500"/>
            <a:ext cx="17907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pipe-head-2">
            <a:extLst xmlns:a="http://schemas.openxmlformats.org/drawingml/2006/main">
              <a:ext uri="{FF2B5EF4-FFF2-40B4-BE49-F238E27FC236}">
                <a16:creationId xmlns:a16="http://schemas.microsoft.com/office/drawing/2014/main" id="{DD199B52-3D5E-4243-B631-6ABDA2DC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FLOW</a:t>
            </a:r>
          </a:p>
        </p:txBody>
      </p:sp>
      <p:sp>
        <p:nvSpPr>
          <p:cNvPr id="15" name="pipe-body-2">
            <a:extLst xmlns:a="http://schemas.openxmlformats.org/drawingml/2006/main">
              <a:ext uri="{FF2B5EF4-FFF2-40B4-BE49-F238E27FC236}">
                <a16:creationId xmlns:a16="http://schemas.microsoft.com/office/drawing/2014/main" id="{4CFE2667-FA53-4177-946B-DA1C62D9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38450"/>
            <a:ext cx="1447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thread-safe</a:t>
            </a:r>
          </a:p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windowed</a:t>
            </a:r>
          </a:p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flow direction</a:t>
            </a:r>
          </a:p>
        </p:txBody>
      </p:sp>
      <p:sp>
        <p:nvSpPr>
          <p:cNvPr id="16" name="pipe-node-3">
            <a:extLst xmlns:a="http://schemas.openxmlformats.org/drawingml/2006/main">
              <a:ext uri="{FF2B5EF4-FFF2-40B4-BE49-F238E27FC236}">
                <a16:creationId xmlns:a16="http://schemas.microsoft.com/office/drawing/2014/main" id="{5166A6AC-69E6-4D6D-AC73-14A895B6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17907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17" name="pipe-head-3">
            <a:extLst xmlns:a="http://schemas.openxmlformats.org/drawingml/2006/main">
              <a:ext uri="{FF2B5EF4-FFF2-40B4-BE49-F238E27FC236}">
                <a16:creationId xmlns:a16="http://schemas.microsoft.com/office/drawing/2014/main" id="{50B57746-0670-4D8F-941E-FB78D4FC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241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DETECT</a:t>
            </a:r>
          </a:p>
        </p:txBody>
      </p:sp>
      <p:sp>
        <p:nvSpPr>
          <p:cNvPr id="18" name="pipe-body-3">
            <a:extLst xmlns:a="http://schemas.openxmlformats.org/drawingml/2006/main">
              <a:ext uri="{FF2B5EF4-FFF2-40B4-BE49-F238E27FC236}">
                <a16:creationId xmlns:a16="http://schemas.microsoft.com/office/drawing/2014/main" id="{61343120-2719-4699-AF2C-11430A99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38450"/>
            <a:ext cx="1447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22 features</a:t>
            </a:r>
          </a:p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contract v2</a:t>
            </a:r>
          </a:p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ONNX verdict</a:t>
            </a:r>
          </a:p>
        </p:txBody>
      </p:sp>
      <p:sp>
        <p:nvSpPr>
          <p:cNvPr id="19" name="pipe-node-4">
            <a:extLst xmlns:a="http://schemas.openxmlformats.org/drawingml/2006/main">
              <a:ext uri="{FF2B5EF4-FFF2-40B4-BE49-F238E27FC236}">
                <a16:creationId xmlns:a16="http://schemas.microsoft.com/office/drawing/2014/main" id="{E756C9B1-05E6-427F-B6D1-816584A6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95500"/>
            <a:ext cx="179070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pipe-head-4">
            <a:extLst xmlns:a="http://schemas.openxmlformats.org/drawingml/2006/main">
              <a:ext uri="{FF2B5EF4-FFF2-40B4-BE49-F238E27FC236}">
                <a16:creationId xmlns:a16="http://schemas.microsoft.com/office/drawing/2014/main" id="{12AF7423-193C-4C66-B6A6-89296CD0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24100"/>
            <a:ext cx="144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RESPOND</a:t>
            </a:r>
          </a:p>
        </p:txBody>
      </p:sp>
      <p:sp>
        <p:nvSpPr>
          <p:cNvPr id="21" name="pipe-body-4">
            <a:extLst xmlns:a="http://schemas.openxmlformats.org/drawingml/2006/main">
              <a:ext uri="{FF2B5EF4-FFF2-40B4-BE49-F238E27FC236}">
                <a16:creationId xmlns:a16="http://schemas.microsoft.com/office/drawing/2014/main" id="{BA123FF7-71A9-410D-AF9B-F6E185E0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38450"/>
            <a:ext cx="1447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incident log</a:t>
            </a:r>
          </a:p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dashboard</a:t>
            </a:r>
          </a:p>
          <a:p xmlns:a="http://schemas.openxmlformats.org/drawingml/2006/main">
            <a:pPr algn="ctr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throttle/block</a:t>
            </a:r>
          </a:p>
        </p:txBody>
      </p:sp>
      <p:sp>
        <p:nvSpPr>
          <p:cNvPr id="22" name="pipeline-takeaway">
            <a:extLst xmlns:a="http://schemas.openxmlformats.org/drawingml/2006/main">
              <a:ext uri="{FF2B5EF4-FFF2-40B4-BE49-F238E27FC236}">
                <a16:creationId xmlns:a16="http://schemas.microsoft.com/office/drawing/2014/main" id="{DEA15ACA-DDF1-4370-8A07-B05333C95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One extractor is imported by training, serving, tests, corpus generation, and C export.</a:t>
            </a:r>
          </a:p>
        </p:txBody>
      </p:sp>
      <p:sp>
        <p:nvSpPr>
          <p:cNvPr id="23" name="slide-4-footer">
            <a:extLst xmlns:a="http://schemas.openxmlformats.org/drawingml/2006/main">
              <a:ext uri="{FF2B5EF4-FFF2-40B4-BE49-F238E27FC236}">
                <a16:creationId xmlns:a16="http://schemas.microsoft.com/office/drawing/2014/main" id="{6B00541D-7D69-4BDA-AD04-CD6D255A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IOT-IDS / corrected status / 22 Aug 2026                                      4</a:t>
            </a:r>
          </a:p>
        </p:txBody>
      </p:sp>
    </p:spTree>
    <p:extLst>
      <p:ext uri="{BB962C8B-B14F-4D97-AF65-F5344CB8AC3E}">
        <p14:creationId xmlns:p14="http://schemas.microsoft.com/office/powerpoint/2010/main" val="4613389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78581947-F9D9-4DCC-BED0-3021FC82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Feature contract v2 closes train/serve drift</a:t>
            </a:r>
          </a:p>
        </p:txBody>
      </p:sp>
      <p:cxnSp>
        <p:nvCxnSpPr>
          <p:cNvPr id="20" name="slide-5-rule"/>
          <p:cNvCxnSpPr/>
          <p:nvPr/>
        </p:nvCxn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emantics-head">
            <a:extLst xmlns:a="http://schemas.openxmlformats.org/drawingml/2006/main">
              <a:ext uri="{FF2B5EF4-FFF2-40B4-BE49-F238E27FC236}">
                <a16:creationId xmlns:a16="http://schemas.microsoft.com/office/drawing/2014/main" id="{E6D3825A-F3C8-4767-B3C7-CED3E497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Packet semantics</a:t>
            </a:r>
          </a:p>
        </p:txBody>
      </p:sp>
      <p:sp>
        <p:nvSpPr>
          <p:cNvPr id="4" name="semantics-body">
            <a:extLst xmlns:a="http://schemas.openxmlformats.org/drawingml/2006/main">
              <a:ext uri="{FF2B5EF4-FFF2-40B4-BE49-F238E27FC236}">
                <a16:creationId xmlns:a16="http://schemas.microsoft.com/office/drawing/2014/main" id="{9EF5C99F-1C82-488A-B6C0-54E3BCA0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62200"/>
            <a:ext cx="52197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Forward/backward follows the observed initiator, not endpoint sorting.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First SYN+ACK reverses orientation.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Midstream capture uses first sender as an explicit fallback.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Nanosecond pcap, link types, fragments, and IPv6 AH are validated.</a:t>
            </a:r>
          </a:p>
        </p:txBody>
      </p:sp>
      <p:sp>
        <p:nvSpPr>
          <p:cNvPr id="5" name="contract-head">
            <a:extLst xmlns:a="http://schemas.openxmlformats.org/drawingml/2006/main">
              <a:ext uri="{FF2B5EF4-FFF2-40B4-BE49-F238E27FC236}">
                <a16:creationId xmlns:a16="http://schemas.microsoft.com/office/drawing/2014/main" id="{8E5F95E4-67C3-4D9D-8D15-EF4BFD3A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14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Load-time gates</a:t>
            </a:r>
          </a:p>
        </p:txBody>
      </p:sp>
      <p:sp>
        <p:nvSpPr>
          <p:cNvPr id="6" name="contract-0-panel">
            <a:extLst xmlns:a="http://schemas.openxmlformats.org/drawingml/2006/main">
              <a:ext uri="{FF2B5EF4-FFF2-40B4-BE49-F238E27FC236}">
                <a16:creationId xmlns:a16="http://schemas.microsoft.com/office/drawing/2014/main" id="{B4EB0B84-F3A8-4D1A-9294-47DB86D7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C"/>
          </a:solidFill>
          <a:ln xmlns:a="http://schemas.openxmlformats.org/drawingml/2006/main" w="9525">
            <a:solidFill>
              <a:srgbClr val="237A57"/>
            </a:solidFill>
            <a:prstDash val="solid"/>
          </a:ln>
        </p:spPr>
      </p:sp>
      <p:sp>
        <p:nvSpPr>
          <p:cNvPr id="7" name="contract-0-text">
            <a:extLst xmlns:a="http://schemas.openxmlformats.org/drawingml/2006/main">
              <a:ext uri="{FF2B5EF4-FFF2-40B4-BE49-F238E27FC236}">
                <a16:creationId xmlns:a16="http://schemas.microsoft.com/office/drawing/2014/main" id="{9DB4FF3A-D341-4522-946B-8A4F9E30D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03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Purpose = live_multiclass_ids</a:t>
            </a:r>
          </a:p>
        </p:txBody>
      </p:sp>
      <p:sp>
        <p:nvSpPr>
          <p:cNvPr id="8" name="contract-1-panel">
            <a:extLst xmlns:a="http://schemas.openxmlformats.org/drawingml/2006/main">
              <a:ext uri="{FF2B5EF4-FFF2-40B4-BE49-F238E27FC236}">
                <a16:creationId xmlns:a16="http://schemas.microsoft.com/office/drawing/2014/main" id="{FF389695-5B96-4302-A24D-E46123F9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575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C"/>
          </a:solidFill>
          <a:ln xmlns:a="http://schemas.openxmlformats.org/drawingml/2006/main" w="9525">
            <a:solidFill>
              <a:srgbClr val="237A57"/>
            </a:solidFill>
            <a:prstDash val="solid"/>
          </a:ln>
        </p:spPr>
      </p:sp>
      <p:sp>
        <p:nvSpPr>
          <p:cNvPr id="9" name="contract-1-text">
            <a:extLst xmlns:a="http://schemas.openxmlformats.org/drawingml/2006/main">
              <a:ext uri="{FF2B5EF4-FFF2-40B4-BE49-F238E27FC236}">
                <a16:creationId xmlns:a16="http://schemas.microsoft.com/office/drawing/2014/main" id="{3D5621DA-5F73-4834-8671-B5CCC55B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337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Runtime compatible = true</a:t>
            </a:r>
          </a:p>
        </p:txBody>
      </p:sp>
      <p:sp>
        <p:nvSpPr>
          <p:cNvPr id="10" name="contract-2-panel">
            <a:extLst xmlns:a="http://schemas.openxmlformats.org/drawingml/2006/main">
              <a:ext uri="{FF2B5EF4-FFF2-40B4-BE49-F238E27FC236}">
                <a16:creationId xmlns:a16="http://schemas.microsoft.com/office/drawing/2014/main" id="{28FCC548-61E9-4883-8F34-5F617E50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C"/>
          </a:solidFill>
          <a:ln xmlns:a="http://schemas.openxmlformats.org/drawingml/2006/main" w="9525">
            <a:solidFill>
              <a:srgbClr val="237A57"/>
            </a:solidFill>
            <a:prstDash val="solid"/>
          </a:ln>
        </p:spPr>
      </p:sp>
      <p:sp>
        <p:nvSpPr>
          <p:cNvPr id="11" name="contract-2-text">
            <a:extLst xmlns:a="http://schemas.openxmlformats.org/drawingml/2006/main">
              <a:ext uri="{FF2B5EF4-FFF2-40B4-BE49-F238E27FC236}">
                <a16:creationId xmlns:a16="http://schemas.microsoft.com/office/drawing/2014/main" id="{6D00E484-C298-4284-9452-2C192C53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671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Exact feature order</a:t>
            </a:r>
          </a:p>
        </p:txBody>
      </p:sp>
      <p:sp>
        <p:nvSpPr>
          <p:cNvPr id="12" name="contract-3-panel">
            <a:extLst xmlns:a="http://schemas.openxmlformats.org/drawingml/2006/main">
              <a:ext uri="{FF2B5EF4-FFF2-40B4-BE49-F238E27FC236}">
                <a16:creationId xmlns:a16="http://schemas.microsoft.com/office/drawing/2014/main" id="{77160A83-B557-4B1D-8591-32A7A695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243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C"/>
          </a:solidFill>
          <a:ln xmlns:a="http://schemas.openxmlformats.org/drawingml/2006/main" w="9525">
            <a:solidFill>
              <a:srgbClr val="237A57"/>
            </a:solidFill>
            <a:prstDash val="solid"/>
          </a:ln>
        </p:spPr>
      </p:sp>
      <p:sp>
        <p:nvSpPr>
          <p:cNvPr id="13" name="contract-3-text">
            <a:extLst xmlns:a="http://schemas.openxmlformats.org/drawingml/2006/main">
              <a:ext uri="{FF2B5EF4-FFF2-40B4-BE49-F238E27FC236}">
                <a16:creationId xmlns:a16="http://schemas.microsoft.com/office/drawing/2014/main" id="{9FBDBD6A-A15F-4CAC-9D0B-A23CDFCD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005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Feature count = 22</a:t>
            </a:r>
          </a:p>
        </p:txBody>
      </p:sp>
      <p:sp>
        <p:nvSpPr>
          <p:cNvPr id="14" name="contract-4-panel">
            <a:extLst xmlns:a="http://schemas.openxmlformats.org/drawingml/2006/main">
              <a:ext uri="{FF2B5EF4-FFF2-40B4-BE49-F238E27FC236}">
                <a16:creationId xmlns:a16="http://schemas.microsoft.com/office/drawing/2014/main" id="{59F34404-5C33-414C-8589-90AB7351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C"/>
          </a:solidFill>
          <a:ln xmlns:a="http://schemas.openxmlformats.org/drawingml/2006/main" w="9525">
            <a:solidFill>
              <a:srgbClr val="237A57"/>
            </a:solidFill>
            <a:prstDash val="solid"/>
          </a:ln>
        </p:spPr>
      </p:sp>
      <p:sp>
        <p:nvSpPr>
          <p:cNvPr id="15" name="contract-4-text">
            <a:extLst xmlns:a="http://schemas.openxmlformats.org/drawingml/2006/main">
              <a:ext uri="{FF2B5EF4-FFF2-40B4-BE49-F238E27FC236}">
                <a16:creationId xmlns:a16="http://schemas.microsoft.com/office/drawing/2014/main" id="{78EEAF5A-7739-4C73-885E-65D15F4C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339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Semantic contract = 2</a:t>
            </a:r>
          </a:p>
        </p:txBody>
      </p:sp>
      <p:sp>
        <p:nvSpPr>
          <p:cNvPr id="16" name="contract-5-panel">
            <a:extLst xmlns:a="http://schemas.openxmlformats.org/drawingml/2006/main">
              <a:ext uri="{FF2B5EF4-FFF2-40B4-BE49-F238E27FC236}">
                <a16:creationId xmlns:a16="http://schemas.microsoft.com/office/drawing/2014/main" id="{59684D7C-06DD-4ECA-A2B5-EE9F1253B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911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C"/>
          </a:solidFill>
          <a:ln xmlns:a="http://schemas.openxmlformats.org/drawingml/2006/main" w="9525">
            <a:solidFill>
              <a:srgbClr val="237A57"/>
            </a:solidFill>
            <a:prstDash val="solid"/>
          </a:ln>
        </p:spPr>
      </p:sp>
      <p:sp>
        <p:nvSpPr>
          <p:cNvPr id="17" name="contract-5-text">
            <a:extLst xmlns:a="http://schemas.openxmlformats.org/drawingml/2006/main">
              <a:ext uri="{FF2B5EF4-FFF2-40B4-BE49-F238E27FC236}">
                <a16:creationId xmlns:a16="http://schemas.microsoft.com/office/drawing/2014/main" id="{A7887BE5-37D2-40E5-9C60-91D9DEB6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673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ONNX dimension matches</a:t>
            </a:r>
          </a:p>
        </p:txBody>
      </p:sp>
      <p:sp>
        <p:nvSpPr>
          <p:cNvPr id="18" name="slide-5-footer">
            <a:extLst xmlns:a="http://schemas.openxmlformats.org/drawingml/2006/main">
              <a:ext uri="{FF2B5EF4-FFF2-40B4-BE49-F238E27FC236}">
                <a16:creationId xmlns:a16="http://schemas.microsoft.com/office/drawing/2014/main" id="{BD95FFE6-33A1-469F-83D3-328277A6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IOT-IDS / corrected status / 22 Aug 2026                        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15385570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FD6B1808-73B3-4B24-A132-0647BFD77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Synthetic consistency is not deployment accuracy</a:t>
            </a:r>
          </a:p>
        </p:txBody>
      </p:sp>
      <p:cxnSp>
        <p:nvCxnSpPr>
          <p:cNvPr id="17" name="slide-6-rule"/>
          <p:cNvCxnSpPr/>
          <p:nvPr/>
        </p:nvCxn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3" name="scope-copy">
            <a:extLst xmlns:a="http://schemas.openxmlformats.org/drawingml/2006/main">
              <a:ext uri="{FF2B5EF4-FFF2-40B4-BE49-F238E27FC236}">
                <a16:creationId xmlns:a16="http://schemas.microsoft.com/office/drawing/2014/main" id="{57D5AA34-891F-4FDC-9F9E-398B9C85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Scenario grouping prevents identical scenarios crossing the split, and independent seeds probe generator variation. The scores remain properties of synthetic traffic.</a:t>
            </a:r>
          </a:p>
        </p:txBody>
      </p:sp>
      <p:sp>
        <p:nvSpPr>
          <p:cNvPr id="4" name="metric-0">
            <a:extLst xmlns:a="http://schemas.openxmlformats.org/drawingml/2006/main">
              <a:ext uri="{FF2B5EF4-FFF2-40B4-BE49-F238E27FC236}">
                <a16:creationId xmlns:a16="http://schemas.microsoft.com/office/drawing/2014/main" id="{6AE64E61-996A-41E5-9A97-400FF831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0"/>
            <a:ext cx="32956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8AEE7156-1610-48B9-BD0E-990F6CF4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800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70</a:t>
            </a:r>
          </a:p>
        </p:txBody>
      </p:sp>
      <p:sp>
        <p:nvSpPr>
          <p:cNvPr id="6" name="metric-label-0">
            <a:extLst xmlns:a="http://schemas.openxmlformats.org/drawingml/2006/main">
              <a:ext uri="{FF2B5EF4-FFF2-40B4-BE49-F238E27FC236}">
                <a16:creationId xmlns:a16="http://schemas.microsoft.com/office/drawing/2014/main" id="{DD062E05-EA39-4D1B-85B1-5CF5E11E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held-out scenarios</a:t>
            </a:r>
          </a:p>
        </p:txBody>
      </p:sp>
      <p:sp>
        <p:nvSpPr>
          <p:cNvPr id="7" name="metric-1">
            <a:extLst xmlns:a="http://schemas.openxmlformats.org/drawingml/2006/main">
              <a:ext uri="{FF2B5EF4-FFF2-40B4-BE49-F238E27FC236}">
                <a16:creationId xmlns:a16="http://schemas.microsoft.com/office/drawing/2014/main" id="{CB87098E-667D-4129-B35D-0B0B387E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667000"/>
            <a:ext cx="32956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8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736F5D36-3B3D-4547-ACE1-87DA489D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009900"/>
            <a:ext cx="2800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1.000</a:t>
            </a:r>
          </a:p>
        </p:txBody>
      </p:sp>
      <p:sp>
        <p:nvSpPr>
          <p:cNvPr id="9" name="metric-label-1">
            <a:extLst xmlns:a="http://schemas.openxmlformats.org/drawingml/2006/main">
              <a:ext uri="{FF2B5EF4-FFF2-40B4-BE49-F238E27FC236}">
                <a16:creationId xmlns:a16="http://schemas.microsoft.com/office/drawing/2014/main" id="{DA71C2E6-726A-4889-8C27-1AE51BF0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957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macro-F1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scenario held-out</a:t>
            </a:r>
          </a:p>
        </p:txBody>
      </p:sp>
      <p:sp>
        <p:nvSpPr>
          <p:cNvPr id="10" name="metric-2">
            <a:extLst xmlns:a="http://schemas.openxmlformats.org/drawingml/2006/main">
              <a:ext uri="{FF2B5EF4-FFF2-40B4-BE49-F238E27FC236}">
                <a16:creationId xmlns:a16="http://schemas.microsoft.com/office/drawing/2014/main" id="{725F4496-6435-419C-AEEE-6F62945EE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32956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49D66833-3830-4512-A42C-90DC8FC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09900"/>
            <a:ext cx="2800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94.2%</a:t>
            </a:r>
          </a:p>
        </p:txBody>
      </p:sp>
      <p:sp>
        <p:nvSpPr>
          <p:cNvPr id="12" name="metric-label-2">
            <a:extLst xmlns:a="http://schemas.openxmlformats.org/drawingml/2006/main">
              <a:ext uri="{FF2B5EF4-FFF2-40B4-BE49-F238E27FC236}">
                <a16:creationId xmlns:a16="http://schemas.microsoft.com/office/drawing/2014/main" id="{3B07F90D-2593-4071-B999-B00ADCE0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95750"/>
            <a:ext cx="2800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Mirai recall</a:t>
            </a:r>
          </a:p>
          <a:p xmlns:a="http://schemas.openxmlformats.org/drawingml/2006/main">
            <a:pPr algn="l">
              <a:def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unseen seeds</a:t>
            </a:r>
          </a:p>
        </p:txBody>
      </p:sp>
      <p:sp>
        <p:nvSpPr>
          <p:cNvPr id="13" name="synthetic-caveat-panel">
            <a:extLst xmlns:a="http://schemas.openxmlformats.org/drawingml/2006/main">
              <a:ext uri="{FF2B5EF4-FFF2-40B4-BE49-F238E27FC236}">
                <a16:creationId xmlns:a16="http://schemas.microsoft.com/office/drawing/2014/main" id="{69561CE2-C621-47DE-80E1-333CAF66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29250"/>
            <a:ext cx="56769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B85C00"/>
            </a:solidFill>
            <a:prstDash val="solid"/>
          </a:ln>
        </p:spPr>
      </p:sp>
      <p:sp>
        <p:nvSpPr>
          <p:cNvPr id="14" name="synthetic-caveat-text">
            <a:extLst xmlns:a="http://schemas.openxmlformats.org/drawingml/2006/main">
              <a:ext uri="{FF2B5EF4-FFF2-40B4-BE49-F238E27FC236}">
                <a16:creationId xmlns:a16="http://schemas.microsoft.com/office/drawing/2014/main" id="{94769757-BC05-4BFF-AB2F-71BF6040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505450"/>
            <a:ext cx="541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rPr>
              <a:t>REAL LABELLED TRAFFIC: NOT YET VALIDATED</a:t>
            </a:r>
          </a:p>
        </p:txBody>
      </p:sp>
      <p:sp>
        <p:nvSpPr>
          <p:cNvPr id="15" name="slide-6-footer">
            <a:extLst xmlns:a="http://schemas.openxmlformats.org/drawingml/2006/main">
              <a:ext uri="{FF2B5EF4-FFF2-40B4-BE49-F238E27FC236}">
                <a16:creationId xmlns:a16="http://schemas.microsoft.com/office/drawing/2014/main" id="{D4E587F2-BE74-44E9-886C-D27123D7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IOT-IDS / corrected status / 22 Aug 2026                                      6</a:t>
            </a:r>
          </a:p>
        </p:txBody>
      </p:sp>
    </p:spTree>
    <p:extLst>
      <p:ext uri="{BB962C8B-B14F-4D97-AF65-F5344CB8AC3E}">
        <p14:creationId xmlns:p14="http://schemas.microsoft.com/office/powerpoint/2010/main" val="10029575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A8C935B1-2D40-4AC1-9909-7ADADEC79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Research evaluation no longer resubstitutes</a:t>
            </a:r>
          </a:p>
        </p:txBody>
      </p:sp>
      <p:cxnSp>
        <p:nvCxnSpPr>
          <p:cNvPr id="20" name="slide-7-rule"/>
          <p:cNvCxnSpPr/>
          <p:nvPr/>
        </p:nvCxn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21" name="research-line-0"/>
          <p:cNvCxnSpPr/>
          <p:nvPr/>
        </p:nvCxnSpPr>
        <p:spPr>
          <a:xfrm xmlns:a="http://schemas.openxmlformats.org/drawingml/2006/main">
            <a:off x="3276600" y="32385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0"/>
            </a:solidFill>
            <a:prstDash val="solid"/>
          </a:ln>
        </p:spPr>
      </p:cxnSp>
      <p:cxnSp>
        <p:nvCxnSpPr>
          <p:cNvPr id="22" name="research-line-1"/>
          <p:cNvCxnSpPr/>
          <p:nvPr/>
        </p:nvCxnSpPr>
        <p:spPr>
          <a:xfrm xmlns:a="http://schemas.openxmlformats.org/drawingml/2006/main">
            <a:off x="6667500" y="32385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01820"/>
            </a:solidFill>
            <a:prstDash val="solid"/>
          </a:ln>
        </p:spPr>
      </p:cxnSp>
      <p:sp>
        <p:nvSpPr>
          <p:cNvPr id="5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A6E3C0B1-2E29-4284-9A76-F0C6091D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6" name="step-panel-0">
            <a:extLst xmlns:a="http://schemas.openxmlformats.org/drawingml/2006/main">
              <a:ext uri="{FF2B5EF4-FFF2-40B4-BE49-F238E27FC236}">
                <a16:creationId xmlns:a16="http://schemas.microsoft.com/office/drawing/2014/main" id="{F84EE0DC-808F-42E2-8B87-E12A4952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2400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F5ED4FEB-334E-4C47-91FB-1F3940DF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4800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Split once</a:t>
            </a:r>
          </a:p>
        </p:txBody>
      </p:sp>
      <p:sp>
        <p:nvSpPr>
          <p:cNvPr id="8" name="step-copy-0">
            <a:extLst xmlns:a="http://schemas.openxmlformats.org/drawingml/2006/main">
              <a:ext uri="{FF2B5EF4-FFF2-40B4-BE49-F238E27FC236}">
                <a16:creationId xmlns:a16="http://schemas.microsoft.com/office/drawing/2014/main" id="{9523B86B-67FB-48B1-9B31-91044BD4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Deterministic stratified 80/20 partition per dataset</a:t>
            </a:r>
          </a:p>
        </p:txBody>
      </p:sp>
      <p:sp>
        <p:nvSpPr>
          <p:cNvPr id="9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A01258D9-57EA-4E7E-9860-CA62AC1E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66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step-panel-1">
            <a:extLst xmlns:a="http://schemas.openxmlformats.org/drawingml/2006/main">
              <a:ext uri="{FF2B5EF4-FFF2-40B4-BE49-F238E27FC236}">
                <a16:creationId xmlns:a16="http://schemas.microsoft.com/office/drawing/2014/main" id="{C10D24D5-E193-471A-B41E-3482E3E1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81300"/>
            <a:ext cx="2400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BFB81D87-5C83-4569-9EC9-986ACCFC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4800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Fit on 80%</a:t>
            </a:r>
          </a:p>
        </p:txBody>
      </p:sp>
      <p:sp>
        <p:nvSpPr>
          <p:cNvPr id="12" name="step-copy-1">
            <a:extLst xmlns:a="http://schemas.openxmlformats.org/drawingml/2006/main">
              <a:ext uri="{FF2B5EF4-FFF2-40B4-BE49-F238E27FC236}">
                <a16:creationId xmlns:a16="http://schemas.microsoft.com/office/drawing/2014/main" id="{E29914D2-9894-40F4-A973-3AF14DA2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3380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One row model serves diagonal and off-diagonal cells</a:t>
            </a:r>
          </a:p>
        </p:txBody>
      </p:sp>
      <p:sp>
        <p:nvSpPr>
          <p:cNvPr id="1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21F98B10-7CB5-4817-B9AB-4C0121A3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66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4" name="step-panel-2">
            <a:extLst xmlns:a="http://schemas.openxmlformats.org/drawingml/2006/main">
              <a:ext uri="{FF2B5EF4-FFF2-40B4-BE49-F238E27FC236}">
                <a16:creationId xmlns:a16="http://schemas.microsoft.com/office/drawing/2014/main" id="{7347C21A-849A-40B9-AAEE-9DFBFE03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2400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6D9E395-0EA5-4BC4-96B7-00C6F2FF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48000"/>
            <a:ext cx="2019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91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Evaluate honestly</a:t>
            </a:r>
          </a:p>
        </p:txBody>
      </p:sp>
      <p:sp>
        <p:nvSpPr>
          <p:cNvPr id="16" name="step-copy-2">
            <a:extLst xmlns:a="http://schemas.openxmlformats.org/drawingml/2006/main">
              <a:ext uri="{FF2B5EF4-FFF2-40B4-BE49-F238E27FC236}">
                <a16:creationId xmlns:a16="http://schemas.microsoft.com/office/drawing/2014/main" id="{72FB80A4-BADE-495C-AD59-09E3A1BE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33800"/>
            <a:ext cx="2019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Untouched 20% diagonal; independent target off-diagonal</a:t>
            </a:r>
          </a:p>
        </p:txBody>
      </p:sp>
      <p:sp>
        <p:nvSpPr>
          <p:cNvPr id="17" name="protocol-foot">
            <a:extLst xmlns:a="http://schemas.openxmlformats.org/drawingml/2006/main">
              <a:ext uri="{FF2B5EF4-FFF2-40B4-BE49-F238E27FC236}">
                <a16:creationId xmlns:a16="http://schemas.microsoft.com/office/drawing/2014/main" id="{D3FC05ED-C34C-4F44-BC9F-8EBEA2E9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24500"/>
            <a:ext cx="967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rPr>
              <a:t>Rerun is blocked only by the unavailable external dataset volume; no replacement metric is fabricated.</a:t>
            </a:r>
          </a:p>
        </p:txBody>
      </p:sp>
      <p:sp>
        <p:nvSpPr>
          <p:cNvPr id="18" name="slide-7-footer">
            <a:extLst xmlns:a="http://schemas.openxmlformats.org/drawingml/2006/main">
              <a:ext uri="{FF2B5EF4-FFF2-40B4-BE49-F238E27FC236}">
                <a16:creationId xmlns:a16="http://schemas.microsoft.com/office/drawing/2014/main" id="{C60E70C6-5A24-4760-A2DA-901F589C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IOT-IDS / corrected status / 22 Aug 2026                                      7</a:t>
            </a:r>
          </a:p>
        </p:txBody>
      </p:sp>
    </p:spTree>
    <p:extLst>
      <p:ext uri="{BB962C8B-B14F-4D97-AF65-F5344CB8AC3E}">
        <p14:creationId xmlns:p14="http://schemas.microsoft.com/office/powerpoint/2010/main" val="8553742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DA7FBC64-7E70-4D09-8622-E03D93C6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IPS state and firewall semantics now agree</a:t>
            </a:r>
          </a:p>
        </p:txBody>
      </p:sp>
      <p:cxnSp>
        <p:nvCxnSpPr>
          <p:cNvPr id="8" name="slide-8-rule"/>
          <p:cNvCxnSpPr/>
          <p:nvPr/>
        </p:nvCxn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graphicFrame>
        <p:nvGraphicFramePr>
          <p:cNvPr id="9" name=""/>
          <p:cNvGraphicFramePr/>
          <p:nvPr/>
        </p:nvGraphicFramePr>
        <p:xfrm>
          <a:off xmlns:a="http://schemas.openxmlformats.org/drawingml/2006/main" x="495300" y="1638300"/>
          <a:ext xmlns:a="http://schemas.openxmlformats.org/drawingml/2006/main" cx="112014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81250"/>
                <a:gridCol w="4476750"/>
                <a:gridCol w="4343400"/>
              </a:tblGrid>
              <a:tr h="6191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Control</a:t>
                      </a:r>
                    </a:p>
                  </a:txBody>
                  <a:tcPr marL="91440" marR="91440" marT="45720" marB="45720"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Verified behavior</a:t>
                      </a:r>
                    </a:p>
                  </a:txBody>
                  <a:tcPr marL="91440" marR="91440" marT="45720" marB="45720">
                    <a:solidFill>
                      <a:srgbClr val="176B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Residual boundary</a:t>
                      </a:r>
                    </a:p>
                  </a:txBody>
                  <a:tcPr marL="91440" marR="91440" marT="45720" marB="45720">
                    <a:solidFill>
                      <a:srgbClr val="176B87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/>
                        <a:t>Incident memory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/>
                        <a:t>Only active source/type keys retained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/>
                        <a:t>Window-level aggregation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/>
                        <a:t>Block refresh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/>
                        <a:t>Memory, disk, and firewall timeout update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/>
                        <a:t>Backend command privileges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/>
                        <a:t>nft throttle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/>
                        <a:t>Named per-source IPv4/IPv6 meters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/>
                        <a:t>Kernel/nft version compatibility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/>
                        <a:t>Scope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/>
                        <a:t>Host versus inline network is explicit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/>
                        <a:t>Placement determines prevention power</a:t>
                      </a:r>
                    </a:p>
                  </a:txBody>
                  <a:tcPr marL="91440" marR="91440" marT="45720" marB="45720"/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650"/>
                        <a:t>Dashboard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/>
                        <a:t>Loopback default and token-authenticated API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/>
                        <a:t>TLS requires tunnel or reverse proxy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ips-default-panel">
            <a:extLst xmlns:a="http://schemas.openxmlformats.org/drawingml/2006/main">
              <a:ext uri="{FF2B5EF4-FFF2-40B4-BE49-F238E27FC236}">
                <a16:creationId xmlns:a16="http://schemas.microsoft.com/office/drawing/2014/main" id="{77E53148-F497-4B21-BC48-AD55CE18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715000"/>
            <a:ext cx="4724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B85C00"/>
            </a:solidFill>
            <a:prstDash val="solid"/>
          </a:ln>
        </p:spPr>
      </p:sp>
      <p:sp>
        <p:nvSpPr>
          <p:cNvPr id="5" name="ips-default-text">
            <a:extLst xmlns:a="http://schemas.openxmlformats.org/drawingml/2006/main">
              <a:ext uri="{FF2B5EF4-FFF2-40B4-BE49-F238E27FC236}">
                <a16:creationId xmlns:a16="http://schemas.microsoft.com/office/drawing/2014/main" id="{13C3803C-CCD0-49B9-8F83-3155A9B2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79120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rPr>
              <a:t>ACTIVE BLOCKING REMAINS OPT-IN</a:t>
            </a:r>
          </a:p>
        </p:txBody>
      </p:sp>
      <p:sp>
        <p:nvSpPr>
          <p:cNvPr id="6" name="slide-8-footer">
            <a:extLst xmlns:a="http://schemas.openxmlformats.org/drawingml/2006/main">
              <a:ext uri="{FF2B5EF4-FFF2-40B4-BE49-F238E27FC236}">
                <a16:creationId xmlns:a16="http://schemas.microsoft.com/office/drawing/2014/main" id="{F2967D02-339E-43F3-B92C-F84AD442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IOT-IDS / corrected status / 22 Aug 2026                                      8</a:t>
            </a:r>
          </a:p>
        </p:txBody>
      </p:sp>
    </p:spTree>
    <p:extLst>
      <p:ext uri="{BB962C8B-B14F-4D97-AF65-F5344CB8AC3E}">
        <p14:creationId xmlns:p14="http://schemas.microsoft.com/office/powerpoint/2010/main" val="9717617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B9B8C7A5-BAD3-4681-B87D-D4872D88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Host capacity is measured; Pi capacity is not</a:t>
            </a:r>
          </a:p>
        </p:txBody>
      </p:sp>
      <p:cxnSp>
        <p:nvCxnSpPr>
          <p:cNvPr id="14" name="slide-9-rule"/>
          <p:cNvCxnSpPr/>
          <p:nvPr/>
        </p:nvCxn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95300" y="1562100"/>
          <a:ext xmlns:a="http://schemas.openxmlformats.org/drawingml/2006/main" cx="6858000" cy="42291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4c3801df794ce0"/>
          </a:graphicData>
        </a:graphic>
      </p:graphicFrame>
      <p:sp>
        <p:nvSpPr>
          <p:cNvPr id="4" name="chart-axis-mask">
            <a:extLst xmlns:a="http://schemas.openxmlformats.org/drawingml/2006/main">
              <a:ext uri="{FF2B5EF4-FFF2-40B4-BE49-F238E27FC236}">
                <a16:creationId xmlns:a16="http://schemas.microsoft.com/office/drawing/2014/main" id="{A26C4C16-77D7-4A41-9047-2526DB98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chart-axis-caption">
            <a:extLst xmlns:a="http://schemas.openxmlformats.org/drawingml/2006/main">
              <a:ext uri="{FF2B5EF4-FFF2-40B4-BE49-F238E27FC236}">
                <a16:creationId xmlns:a16="http://schemas.microsoft.com/office/drawing/2014/main" id="{2D675989-A8A2-48CA-8FC9-F88ECBB1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626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Apple Silicon host - flows per second</a:t>
            </a:r>
          </a:p>
        </p:txBody>
      </p:sp>
      <p:sp>
        <p:nvSpPr>
          <p:cNvPr id="6" name="host-callout">
            <a:extLst xmlns:a="http://schemas.openxmlformats.org/drawingml/2006/main">
              <a:ext uri="{FF2B5EF4-FFF2-40B4-BE49-F238E27FC236}">
                <a16:creationId xmlns:a16="http://schemas.microsoft.com/office/drawing/2014/main" id="{495698B0-4021-43EC-A8D3-27BCA277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90700"/>
            <a:ext cx="33147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host-callout-v">
            <a:extLst xmlns:a="http://schemas.openxmlformats.org/drawingml/2006/main">
              <a:ext uri="{FF2B5EF4-FFF2-40B4-BE49-F238E27FC236}">
                <a16:creationId xmlns:a16="http://schemas.microsoft.com/office/drawing/2014/main" id="{F6E87871-D771-4B8E-9675-1E275218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2819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56.6 MB</a:t>
            </a:r>
          </a:p>
        </p:txBody>
      </p:sp>
      <p:sp>
        <p:nvSpPr>
          <p:cNvPr id="8" name="host-callout-l">
            <a:extLst xmlns:a="http://schemas.openxmlformats.org/drawingml/2006/main">
              <a:ext uri="{FF2B5EF4-FFF2-40B4-BE49-F238E27FC236}">
                <a16:creationId xmlns:a16="http://schemas.microsoft.com/office/drawing/2014/main" id="{08CD3D6E-D743-481F-BA73-DC12DA8C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47950"/>
            <a:ext cx="2819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daemon RSS on host</a:t>
            </a:r>
          </a:p>
        </p:txBody>
      </p:sp>
      <p:sp>
        <p:nvSpPr>
          <p:cNvPr id="9" name="pi-callout">
            <a:extLst xmlns:a="http://schemas.openxmlformats.org/drawingml/2006/main">
              <a:ext uri="{FF2B5EF4-FFF2-40B4-BE49-F238E27FC236}">
                <a16:creationId xmlns:a16="http://schemas.microsoft.com/office/drawing/2014/main" id="{107546FD-B794-4981-9703-EABA1109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24250"/>
            <a:ext cx="33147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B85C00"/>
            </a:solidFill>
            <a:prstDash val="solid"/>
          </a:ln>
        </p:spPr>
      </p:sp>
      <p:sp>
        <p:nvSpPr>
          <p:cNvPr id="10" name="pi-callout-h">
            <a:extLst xmlns:a="http://schemas.openxmlformats.org/drawingml/2006/main">
              <a:ext uri="{FF2B5EF4-FFF2-40B4-BE49-F238E27FC236}">
                <a16:creationId xmlns:a16="http://schemas.microsoft.com/office/drawing/2014/main" id="{EEF8D3D0-E4F3-4DB2-B2C2-DC1A1B8A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90950"/>
            <a:ext cx="281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rPr>
              <a:t>Pi status</a:t>
            </a:r>
          </a:p>
        </p:txBody>
      </p:sp>
      <p:sp>
        <p:nvSpPr>
          <p:cNvPr id="11" name="pi-callout-b">
            <a:extLst xmlns:a="http://schemas.openxmlformats.org/drawingml/2006/main">
              <a:ext uri="{FF2B5EF4-FFF2-40B4-BE49-F238E27FC236}">
                <a16:creationId xmlns:a16="http://schemas.microsoft.com/office/drawing/2014/main" id="{77379EB4-3214-43AB-B275-A68D5A06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62450"/>
            <a:ext cx="2819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Projection only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Run benchmark + soak</a:t>
            </a:r>
          </a:p>
          <a:p xmlns:a="http://schemas.openxmlformats.org/drawingml/2006/main">
            <a:pPr algn="l">
              <a:def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before throughput claims</a:t>
            </a:r>
          </a:p>
        </p:txBody>
      </p:sp>
      <p:sp>
        <p:nvSpPr>
          <p:cNvPr id="12" name="slide-9-footer">
            <a:extLst xmlns:a="http://schemas.openxmlformats.org/drawingml/2006/main">
              <a:ext uri="{FF2B5EF4-FFF2-40B4-BE49-F238E27FC236}">
                <a16:creationId xmlns:a16="http://schemas.microsoft.com/office/drawing/2014/main" id="{98A7E287-8094-4C4B-A9CF-3BD96449D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IOT-IDS / corrected status / 22 Aug 2026                                      9</a:t>
            </a:r>
          </a:p>
        </p:txBody>
      </p:sp>
    </p:spTree>
    <p:extLst>
      <p:ext uri="{BB962C8B-B14F-4D97-AF65-F5344CB8AC3E}">
        <p14:creationId xmlns:p14="http://schemas.microsoft.com/office/powerpoint/2010/main" val="7619218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18366F04-1E4B-4BDA-8B5A-797C5D46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11201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Software readiness is ahead of evidence</a:t>
            </a:r>
          </a:p>
        </p:txBody>
      </p:sp>
      <p:cxnSp>
        <p:nvCxnSpPr>
          <p:cNvPr id="7" name="slide-10-rule"/>
          <p:cNvCxnSpPr/>
          <p:nvPr/>
        </p:nvCxnSpPr>
        <p:spPr>
          <a:xfrm xmlns:a="http://schemas.openxmlformats.org/drawingml/2006/main">
            <a:off x="495300" y="1200150"/>
            <a:ext cx="11201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graphicFrame>
        <p:nvGraphicFramePr>
          <p:cNvPr id="8" name=""/>
          <p:cNvGraphicFramePr/>
          <p:nvPr/>
        </p:nvGraphicFramePr>
        <p:xfrm>
          <a:off xmlns:a="http://schemas.openxmlformats.org/drawingml/2006/main" x="495300" y="1524000"/>
          <a:ext xmlns:a="http://schemas.openxmlformats.org/drawingml/2006/main" cx="11201400" cy="4114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667000"/>
                <a:gridCol w="2000250"/>
                <a:gridCol w="6534150"/>
              </a:tblGrid>
              <a:tr h="587829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Next acceptance gate</a:t>
                      </a:r>
                    </a:p>
                  </a:txBody>
                  <a:tcPr marL="91440" marR="91440" marT="45720" marB="45720">
                    <a:solidFill>
                      <a:srgbClr val="101820"/>
                    </a:solidFill>
                  </a:tcPr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650"/>
                        <a:t>Live software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237A57"/>
                          </a:solidFill>
                        </a:rPr>
                        <a:t>VERIFIED</a:t>
                      </a:r>
                    </a:p>
                  </a:txBody>
                  <a:tcPr marL="91440" marR="91440" marT="45720" marB="45720">
                    <a:solidFill>
                      <a:srgbClr val="E4F4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/>
                        <a:t>Keep 58-test suite and contract checks green</a:t>
                      </a:r>
                    </a:p>
                  </a:txBody>
                  <a:tcPr marL="91440" marR="91440" marT="45720" marB="45720"/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650"/>
                        <a:t>Synthetic 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76B87"/>
                          </a:solidFill>
                        </a:rPr>
                        <a:t>SCOPED</a:t>
                      </a:r>
                    </a:p>
                  </a:txBody>
                  <a:tcPr marL="91440" marR="91440" marT="45720" marB="45720">
                    <a:solidFill>
                      <a:srgbClr val="DDF1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/>
                        <a:t>Do not generalize beyond generators</a:t>
                      </a:r>
                    </a:p>
                  </a:txBody>
                  <a:tcPr marL="91440" marR="91440" marT="45720" marB="45720"/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650"/>
                        <a:t>SFAF research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B85C00"/>
                          </a:solidFill>
                        </a:rPr>
                        <a:t>BLOCKED</a:t>
                      </a:r>
                    </a:p>
                  </a:txBody>
                  <a:tcPr marL="91440" marR="91440" marT="45720" marB="45720">
                    <a:solidFill>
                      <a:srgbClr val="FFF1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/>
                        <a:t>Mount datasets and publish corrected rerun bundle</a:t>
                      </a:r>
                    </a:p>
                  </a:txBody>
                  <a:tcPr marL="91440" marR="91440" marT="45720" marB="45720"/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650"/>
                        <a:t>Raspberry 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B85C00"/>
                          </a:solidFill>
                        </a:rPr>
                        <a:t>BLOCKED</a:t>
                      </a:r>
                    </a:p>
                  </a:txBody>
                  <a:tcPr marL="91440" marR="91440" marT="45720" marB="45720">
                    <a:solidFill>
                      <a:srgbClr val="FFF1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/>
                        <a:t>Benchmark, packet-drop check, thermal soak</a:t>
                      </a:r>
                    </a:p>
                  </a:txBody>
                  <a:tcPr marL="91440" marR="91440" marT="45720" marB="45720"/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650"/>
                        <a:t>Repository governance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B85C00"/>
                          </a:solidFill>
                        </a:rPr>
                        <a:t>OPEN</a:t>
                      </a:r>
                    </a:p>
                  </a:txBody>
                  <a:tcPr marL="91440" marR="91440" marT="45720" marB="45720">
                    <a:solidFill>
                      <a:srgbClr val="FFF1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/>
                        <a:t>License, cards, security policy, protected branch</a:t>
                      </a:r>
                    </a:p>
                  </a:txBody>
                  <a:tcPr marL="91440" marR="91440" marT="45720" marB="45720"/>
                </a:tc>
              </a:tr>
              <a:tr h="587829">
                <a:tc>
                  <a:txBody>
                    <a:bodyPr/>
                    <a:lstStyle/>
                    <a:p>
                      <a:r>
                        <a:rPr sz="1650"/>
                        <a:t>Git history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B85C00"/>
                          </a:solidFill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FF1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/>
                        <a:t>Coordinate before any destructive rewrite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readiness-takeaway">
            <a:extLst xmlns:a="http://schemas.openxmlformats.org/drawingml/2006/main">
              <a:ext uri="{FF2B5EF4-FFF2-40B4-BE49-F238E27FC236}">
                <a16:creationId xmlns:a16="http://schemas.microsoft.com/office/drawing/2014/main" id="{1F3C380C-2603-44D0-8CD5-63F3E1D2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48350"/>
            <a:ext cx="9182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The next milestone is an evidence bundle, not another unqualified score.</a:t>
            </a:r>
          </a:p>
        </p:txBody>
      </p:sp>
      <p:sp>
        <p:nvSpPr>
          <p:cNvPr id="5" name="slide-10-footer">
            <a:extLst xmlns:a="http://schemas.openxmlformats.org/drawingml/2006/main">
              <a:ext uri="{FF2B5EF4-FFF2-40B4-BE49-F238E27FC236}">
                <a16:creationId xmlns:a16="http://schemas.microsoft.com/office/drawing/2014/main" id="{2815DCFD-7DDD-42E8-AC4F-8225EE4A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IOT-IDS / corrected status / 22 Aug 2026                                      10</a:t>
            </a:r>
          </a:p>
        </p:txBody>
      </p:sp>
    </p:spTree>
    <p:extLst>
      <p:ext uri="{BB962C8B-B14F-4D97-AF65-F5344CB8AC3E}">
        <p14:creationId xmlns:p14="http://schemas.microsoft.com/office/powerpoint/2010/main" val="9771951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1CC28471-1E07-4C77-B40D-C202DB0B9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NEXT DEFENSIBLE MILESTONE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91750479-6038-4152-8345-340FDFB8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8096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Measure reality.</a:t>
            </a:r>
          </a:p>
          <a:p xmlns:a="http://schemas.openxmlformats.org/drawingml/2006/main">
            <a:pPr algn="l">
              <a:defRPr sz="54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101820"/>
                </a:solidFill>
                <a:latin typeface="Helvetica Neue"/>
                <a:ea typeface="Helvetica Neue"/>
                <a:cs typeface="Helvetica Neue"/>
              </a:rPr>
              <a:t>Then make the claim.</a:t>
            </a:r>
          </a:p>
        </p:txBody>
      </p:sp>
      <p:sp>
        <p:nvSpPr>
          <p:cNvPr id="3" name="close-step-0-panel">
            <a:extLst xmlns:a="http://schemas.openxmlformats.org/drawingml/2006/main">
              <a:ext uri="{FF2B5EF4-FFF2-40B4-BE49-F238E27FC236}">
                <a16:creationId xmlns:a16="http://schemas.microsoft.com/office/drawing/2014/main" id="{F2A4E2F9-2377-48FC-9129-CB2AAD25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600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1F8"/>
          </a:solidFill>
          <a:ln xmlns:a="http://schemas.openxmlformats.org/drawingml/2006/main" w="9525">
            <a:solidFill>
              <a:srgbClr val="176B87"/>
            </a:solidFill>
            <a:prstDash val="solid"/>
          </a:ln>
        </p:spPr>
      </p:sp>
      <p:sp>
        <p:nvSpPr>
          <p:cNvPr id="4" name="close-step-0-text">
            <a:extLst xmlns:a="http://schemas.openxmlformats.org/drawingml/2006/main">
              <a:ext uri="{FF2B5EF4-FFF2-40B4-BE49-F238E27FC236}">
                <a16:creationId xmlns:a16="http://schemas.microsoft.com/office/drawing/2014/main" id="{B640E6AE-FB5C-42AB-AE38-FDB805DB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76B87"/>
                </a:solidFill>
                <a:latin typeface="Helvetica Neue"/>
                <a:ea typeface="Helvetica Neue"/>
                <a:cs typeface="Helvetica Neue"/>
              </a:rPr>
              <a:t>1  Rerun public datasets</a:t>
            </a:r>
          </a:p>
        </p:txBody>
      </p:sp>
      <p:sp>
        <p:nvSpPr>
          <p:cNvPr id="5" name="close-step-1-panel">
            <a:extLst xmlns:a="http://schemas.openxmlformats.org/drawingml/2006/main">
              <a:ext uri="{FF2B5EF4-FFF2-40B4-BE49-F238E27FC236}">
                <a16:creationId xmlns:a16="http://schemas.microsoft.com/office/drawing/2014/main" id="{CC0AE64E-6BE7-40A9-8F2A-EAB57EEC9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600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4EC"/>
          </a:solidFill>
          <a:ln xmlns:a="http://schemas.openxmlformats.org/drawingml/2006/main" w="9525">
            <a:solidFill>
              <a:srgbClr val="237A57"/>
            </a:solidFill>
            <a:prstDash val="solid"/>
          </a:ln>
        </p:spPr>
      </p:sp>
      <p:sp>
        <p:nvSpPr>
          <p:cNvPr id="6" name="close-step-1-text">
            <a:extLst xmlns:a="http://schemas.openxmlformats.org/drawingml/2006/main">
              <a:ext uri="{FF2B5EF4-FFF2-40B4-BE49-F238E27FC236}">
                <a16:creationId xmlns:a16="http://schemas.microsoft.com/office/drawing/2014/main" id="{F8EB5422-BF38-42B8-BFDE-FF823D44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9580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37A57"/>
                </a:solidFill>
                <a:latin typeface="Helvetica Neue"/>
                <a:ea typeface="Helvetica Neue"/>
                <a:cs typeface="Helvetica Neue"/>
              </a:rPr>
              <a:t>2  Process labelled pcaps</a:t>
            </a:r>
          </a:p>
        </p:txBody>
      </p:sp>
      <p:sp>
        <p:nvSpPr>
          <p:cNvPr id="7" name="close-step-2-panel">
            <a:extLst xmlns:a="http://schemas.openxmlformats.org/drawingml/2006/main">
              <a:ext uri="{FF2B5EF4-FFF2-40B4-BE49-F238E27FC236}">
                <a16:creationId xmlns:a16="http://schemas.microsoft.com/office/drawing/2014/main" id="{81E4559F-8D9A-45E4-BDD7-601FC954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600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F"/>
          </a:solidFill>
          <a:ln xmlns:a="http://schemas.openxmlformats.org/drawingml/2006/main" w="9525">
            <a:solidFill>
              <a:srgbClr val="B85C00"/>
            </a:solidFill>
            <a:prstDash val="solid"/>
          </a:ln>
        </p:spPr>
      </p:sp>
      <p:sp>
        <p:nvSpPr>
          <p:cNvPr id="8" name="close-step-2-text">
            <a:extLst xmlns:a="http://schemas.openxmlformats.org/drawingml/2006/main">
              <a:ext uri="{FF2B5EF4-FFF2-40B4-BE49-F238E27FC236}">
                <a16:creationId xmlns:a16="http://schemas.microsoft.com/office/drawing/2014/main" id="{D77FAF9A-5DA6-4141-948F-DDF68682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86350"/>
            <a:ext cx="573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rPr>
              <a:t>3  Benchmark the target Pi</a:t>
            </a:r>
          </a:p>
        </p:txBody>
      </p:sp>
      <p:sp>
        <p:nvSpPr>
          <p:cNvPr id="9" name="close-boundary">
            <a:extLst xmlns:a="http://schemas.openxmlformats.org/drawingml/2006/main">
              <a:ext uri="{FF2B5EF4-FFF2-40B4-BE49-F238E27FC236}">
                <a16:creationId xmlns:a16="http://schemas.microsoft.com/office/drawing/2014/main" id="{EF0DED18-07F5-4124-9353-4D8C3F6E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00450"/>
            <a:ext cx="342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rPr>
              <a:t>Until then:</a:t>
            </a:r>
          </a:p>
          <a:p xmlns:a="http://schemas.openxmlformats.org/drawingml/2006/main">
            <a:pPr algn="ctr">
              <a:defRPr sz="2175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rPr>
              <a:t>synthetic only</a:t>
            </a:r>
          </a:p>
          <a:p xmlns:a="http://schemas.openxmlformats.org/drawingml/2006/main">
            <a:pPr algn="ctr">
              <a:defRPr sz="2175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rPr>
              <a:t>Pi unvalidated</a:t>
            </a:r>
          </a:p>
          <a:p xmlns:a="http://schemas.openxmlformats.org/drawingml/2006/main">
            <a:pPr algn="ctr">
              <a:defRPr sz="2175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85C00"/>
                </a:solidFill>
                <a:latin typeface="Helvetica Neue"/>
                <a:ea typeface="Helvetica Neue"/>
                <a:cs typeface="Helvetica Neue"/>
              </a:rPr>
              <a:t>SFAF rerun pending</a:t>
            </a:r>
          </a:p>
        </p:txBody>
      </p:sp>
      <p:sp>
        <p:nvSpPr>
          <p:cNvPr id="10" name="close-footer">
            <a:extLst xmlns:a="http://schemas.openxmlformats.org/drawingml/2006/main">
              <a:ext uri="{FF2B5EF4-FFF2-40B4-BE49-F238E27FC236}">
                <a16:creationId xmlns:a16="http://schemas.microsoft.com/office/drawing/2014/main" id="{B0239FAF-A5D3-4CCB-8346-2ABB177C2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0769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2606D"/>
                </a:solidFill>
                <a:latin typeface="Helvetica Neue"/>
                <a:ea typeface="Helvetica Neue"/>
                <a:cs typeface="Helvetica Neue"/>
              </a:rPr>
              <a:t>Corrected report, editable deck, source code, tests, and decision log are all preserved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21470443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2026-08-22T09:24:43.6230000Z</dcterms:created>
  <dcterms:modified xsi:type="dcterms:W3CDTF">2026-08-22T09:24:43.6230000Z</dcterms:modified>
</coreProperties>
</file>